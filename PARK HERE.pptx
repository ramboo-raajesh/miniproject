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63" r:id="rId6"/>
    <p:sldId id="258" r:id="rId7"/>
    <p:sldId id="260" r:id="rId8"/>
    <p:sldId id="259"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814" autoAdjust="0"/>
    <p:restoredTop sz="94660"/>
  </p:normalViewPr>
  <p:slideViewPr>
    <p:cSldViewPr snapToGrid="0">
      <p:cViewPr varScale="1">
        <p:scale>
          <a:sx n="130" d="100"/>
          <a:sy n="130" d="100"/>
        </p:scale>
        <p:origin x="61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11/8/2025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11/8/2025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11/8/2025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11/8/2025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11/8/2025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11/8/2025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11/8/2025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11/8/2025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11/8/2025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11/8/2025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11/8/2025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11/8/2025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6999" y="1932037"/>
            <a:ext cx="6253317" cy="1198454"/>
          </a:xfrm>
        </p:spPr>
        <p:txBody>
          <a:bodyPr>
            <a:normAutofit/>
          </a:bodyPr>
          <a:lstStyle/>
          <a:p>
            <a:r>
              <a:rPr lang="en-US" sz="8000" dirty="0"/>
              <a:t>PARK HERE</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78984" y="3130491"/>
            <a:ext cx="6269347" cy="1021498"/>
          </a:xfrm>
        </p:spPr>
        <p:txBody>
          <a:bodyPr>
            <a:normAutofit/>
          </a:bodyPr>
          <a:lstStyle/>
          <a:p>
            <a:r>
              <a:rPr lang="en-US" sz="2400" dirty="0">
                <a:solidFill>
                  <a:schemeClr val="tx1">
                    <a:lumMod val="85000"/>
                    <a:lumOff val="15000"/>
                  </a:schemeClr>
                </a:solidFill>
              </a:rPr>
              <a:t>Parking space utilization mobile application</a:t>
            </a:r>
          </a:p>
        </p:txBody>
      </p:sp>
      <p:pic>
        <p:nvPicPr>
          <p:cNvPr id="5" name="Picture 4">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0"/>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154" name="Picture 10" descr="About SRM University">
            <a:extLst>
              <a:ext uri="{FF2B5EF4-FFF2-40B4-BE49-F238E27FC236}">
                <a16:creationId xmlns:a16="http://schemas.microsoft.com/office/drawing/2014/main" id="{482B8F9D-66CB-1B63-0422-41E4E64065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2380" y="537394"/>
            <a:ext cx="2857500" cy="8572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B438D8E-B0E4-E1B1-319F-8F0411D131CE}"/>
              </a:ext>
            </a:extLst>
          </p:cNvPr>
          <p:cNvSpPr txBox="1"/>
          <p:nvPr/>
        </p:nvSpPr>
        <p:spPr>
          <a:xfrm>
            <a:off x="4938739" y="4812497"/>
            <a:ext cx="2316612" cy="954107"/>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PROJECT GUIDE </a:t>
            </a:r>
          </a:p>
          <a:p>
            <a:r>
              <a:rPr lang="en-IN" sz="1400" b="1" dirty="0" err="1">
                <a:latin typeface="Times New Roman" panose="02020603050405020304" pitchFamily="18" charset="0"/>
                <a:cs typeface="Times New Roman" panose="02020603050405020304" pitchFamily="18" charset="0"/>
              </a:rPr>
              <a:t>Dr.A.Thirumurthi</a:t>
            </a:r>
            <a:r>
              <a:rPr lang="en-IN" sz="1400" b="1" dirty="0">
                <a:latin typeface="Times New Roman" panose="02020603050405020304" pitchFamily="18" charset="0"/>
                <a:cs typeface="Times New Roman" panose="02020603050405020304" pitchFamily="18" charset="0"/>
              </a:rPr>
              <a:t> Raja </a:t>
            </a:r>
          </a:p>
          <a:p>
            <a:r>
              <a:rPr lang="en-IN" sz="1400" b="1" dirty="0">
                <a:latin typeface="Times New Roman" panose="02020603050405020304" pitchFamily="18" charset="0"/>
                <a:cs typeface="Times New Roman" panose="02020603050405020304" pitchFamily="18" charset="0"/>
              </a:rPr>
              <a:t>Assistant Professor, </a:t>
            </a:r>
          </a:p>
          <a:p>
            <a:r>
              <a:rPr lang="en-IN" sz="1400" b="1" dirty="0">
                <a:latin typeface="Times New Roman" panose="02020603050405020304" pitchFamily="18" charset="0"/>
                <a:cs typeface="Times New Roman" panose="02020603050405020304" pitchFamily="18" charset="0"/>
              </a:rPr>
              <a:t>SRMIST-DDE, </a:t>
            </a:r>
          </a:p>
        </p:txBody>
      </p:sp>
      <p:sp>
        <p:nvSpPr>
          <p:cNvPr id="11" name="TextBox 10">
            <a:extLst>
              <a:ext uri="{FF2B5EF4-FFF2-40B4-BE49-F238E27FC236}">
                <a16:creationId xmlns:a16="http://schemas.microsoft.com/office/drawing/2014/main" id="{BCEFA66A-6029-2BE0-C2EA-A71B394F39E3}"/>
              </a:ext>
            </a:extLst>
          </p:cNvPr>
          <p:cNvSpPr txBox="1"/>
          <p:nvPr/>
        </p:nvSpPr>
        <p:spPr>
          <a:xfrm>
            <a:off x="8310715" y="4812497"/>
            <a:ext cx="3317215" cy="1384995"/>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HEAD OF DEPARTMENT </a:t>
            </a:r>
          </a:p>
          <a:p>
            <a:r>
              <a:rPr lang="en-IN" sz="1400" b="1" dirty="0" err="1">
                <a:latin typeface="Times New Roman" panose="02020603050405020304" pitchFamily="18" charset="0"/>
                <a:cs typeface="Times New Roman" panose="02020603050405020304" pitchFamily="18" charset="0"/>
              </a:rPr>
              <a:t>Dr.A.Thirumurthi</a:t>
            </a:r>
            <a:r>
              <a:rPr lang="en-IN" sz="1400" b="1" dirty="0">
                <a:latin typeface="Times New Roman" panose="02020603050405020304" pitchFamily="18" charset="0"/>
                <a:cs typeface="Times New Roman" panose="02020603050405020304" pitchFamily="18" charset="0"/>
              </a:rPr>
              <a:t> Raja </a:t>
            </a:r>
          </a:p>
          <a:p>
            <a:r>
              <a:rPr lang="en-IN" sz="1400" b="1" dirty="0">
                <a:latin typeface="Times New Roman" panose="02020603050405020304" pitchFamily="18" charset="0"/>
                <a:cs typeface="Times New Roman" panose="02020603050405020304" pitchFamily="18" charset="0"/>
              </a:rPr>
              <a:t>Program Coordinator </a:t>
            </a:r>
          </a:p>
          <a:p>
            <a:r>
              <a:rPr lang="en-IN" sz="1400" b="1" dirty="0">
                <a:latin typeface="Times New Roman" panose="02020603050405020304" pitchFamily="18" charset="0"/>
                <a:cs typeface="Times New Roman" panose="02020603050405020304" pitchFamily="18" charset="0"/>
              </a:rPr>
              <a:t>Department of Computer Applications,</a:t>
            </a:r>
          </a:p>
          <a:p>
            <a:r>
              <a:rPr lang="en-US" sz="1400" b="1" dirty="0">
                <a:latin typeface="Times New Roman" panose="02020603050405020304" pitchFamily="18" charset="0"/>
                <a:cs typeface="Times New Roman" panose="02020603050405020304" pitchFamily="18" charset="0"/>
              </a:rPr>
              <a:t>Directorate of Distance Education (DDE)</a:t>
            </a:r>
          </a:p>
          <a:p>
            <a:r>
              <a:rPr lang="en-IN" sz="1400" b="1" dirty="0">
                <a:latin typeface="Times New Roman" panose="02020603050405020304" pitchFamily="18" charset="0"/>
                <a:cs typeface="Times New Roman" panose="02020603050405020304" pitchFamily="18" charset="0"/>
              </a:rPr>
              <a:t>SRMIST </a:t>
            </a: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8B90-6BFA-B160-D851-814E12160C5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9636D61-D575-06B3-3D67-4F76F169AF6D}"/>
              </a:ext>
            </a:extLst>
          </p:cNvPr>
          <p:cNvSpPr txBox="1"/>
          <p:nvPr/>
        </p:nvSpPr>
        <p:spPr>
          <a:xfrm>
            <a:off x="1696538" y="2073321"/>
            <a:ext cx="7988482" cy="258532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In urban areas, finding available parking spaces is a growing challenge due to limited infrastructure and increasing vehicle density. </a:t>
            </a:r>
            <a:r>
              <a:rPr lang="en-US" i="1" dirty="0" err="1">
                <a:latin typeface="Times New Roman" panose="02020603050405020304" pitchFamily="18" charset="0"/>
                <a:cs typeface="Times New Roman" panose="02020603050405020304" pitchFamily="18" charset="0"/>
              </a:rPr>
              <a:t>ParkHere</a:t>
            </a:r>
            <a:r>
              <a:rPr lang="en-US" dirty="0">
                <a:latin typeface="Times New Roman" panose="02020603050405020304" pitchFamily="18" charset="0"/>
                <a:cs typeface="Times New Roman" panose="02020603050405020304" pitchFamily="18" charset="0"/>
              </a:rPr>
              <a:t> is a platform-independent application that enables peer-to-peer sharing of parking spaces, allowing users to post, view, and occupy available spots in real time. The system uses </a:t>
            </a:r>
            <a:r>
              <a:rPr lang="en-US" dirty="0" err="1">
                <a:latin typeface="Times New Roman" panose="02020603050405020304" pitchFamily="18" charset="0"/>
                <a:cs typeface="Times New Roman" panose="02020603050405020304" pitchFamily="18" charset="0"/>
              </a:rPr>
              <a:t>Supabase</a:t>
            </a:r>
            <a:r>
              <a:rPr lang="en-US" dirty="0">
                <a:latin typeface="Times New Roman" panose="02020603050405020304" pitchFamily="18" charset="0"/>
                <a:cs typeface="Times New Roman" panose="02020603050405020304" pitchFamily="18" charset="0"/>
              </a:rPr>
              <a:t> for backend services, ensuring seamless data synchronization and secure authentication. With a live map interface, users can easily locate nearby parking spots and view their occupancy status. This project aims to optimize space utilization, reduce time spent searching for parking, and promote smart city mobility solutions.</a:t>
            </a:r>
            <a:r>
              <a:rPr lang="en-IN" dirty="0">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C10BFEF8-EA4E-09BE-136A-259B58AF0586}"/>
              </a:ext>
            </a:extLst>
          </p:cNvPr>
          <p:cNvSpPr txBox="1"/>
          <p:nvPr/>
        </p:nvSpPr>
        <p:spPr>
          <a:xfrm>
            <a:off x="4378099" y="697077"/>
            <a:ext cx="6094638" cy="646331"/>
          </a:xfrm>
          <a:prstGeom prst="rect">
            <a:avLst/>
          </a:prstGeom>
          <a:noFill/>
        </p:spPr>
        <p:txBody>
          <a:bodyPr wrap="square">
            <a:spAutoFit/>
          </a:bodyPr>
          <a:lstStyle/>
          <a:p>
            <a:r>
              <a:rPr lang="en-IN" sz="3600" dirty="0">
                <a:latin typeface="+mj-lt"/>
              </a:rPr>
              <a:t>Abstract</a:t>
            </a:r>
          </a:p>
        </p:txBody>
      </p:sp>
    </p:spTree>
    <p:extLst>
      <p:ext uri="{BB962C8B-B14F-4D97-AF65-F5344CB8AC3E}">
        <p14:creationId xmlns:p14="http://schemas.microsoft.com/office/powerpoint/2010/main" val="773144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5F2AF50-AA25-A4DE-0E94-C43DFC8897DF}"/>
              </a:ext>
            </a:extLst>
          </p:cNvPr>
          <p:cNvSpPr txBox="1"/>
          <p:nvPr/>
        </p:nvSpPr>
        <p:spPr>
          <a:xfrm>
            <a:off x="530678" y="1844721"/>
            <a:ext cx="10009414" cy="2308324"/>
          </a:xfrm>
          <a:prstGeom prst="rect">
            <a:avLst/>
          </a:prstGeom>
          <a:noFill/>
        </p:spPr>
        <p:txBody>
          <a:bodyPr wrap="square" rtlCol="0">
            <a:spAutoFit/>
          </a:bodyPr>
          <a:lstStyle/>
          <a:p>
            <a:pPr marL="342900" indent="-342900">
              <a:buFont typeface="+mj-lt"/>
              <a:buAutoNum type="arabicPeriod"/>
            </a:pPr>
            <a:r>
              <a:rPr lang="en-IN" b="1" dirty="0"/>
              <a:t>Urban areas face a critical shortage of parking spaces.</a:t>
            </a:r>
          </a:p>
          <a:p>
            <a:pPr marL="342900" indent="-342900">
              <a:buFont typeface="+mj-lt"/>
              <a:buAutoNum type="arabicPeriod"/>
            </a:pPr>
            <a:endParaRPr lang="en-IN" b="1" dirty="0"/>
          </a:p>
          <a:p>
            <a:pPr marL="342900" indent="-342900">
              <a:buFont typeface="+mj-lt"/>
              <a:buAutoNum type="arabicPeriod"/>
            </a:pPr>
            <a:r>
              <a:rPr lang="en-US" b="1" dirty="0"/>
              <a:t>Many private parking spots remain unused when owners are away.</a:t>
            </a:r>
          </a:p>
          <a:p>
            <a:pPr marL="342900" indent="-342900">
              <a:buFont typeface="+mj-lt"/>
              <a:buAutoNum type="arabicPeriod"/>
            </a:pPr>
            <a:endParaRPr lang="en-US" b="1" dirty="0"/>
          </a:p>
          <a:p>
            <a:pPr marL="342900" indent="-342900">
              <a:buFont typeface="+mj-lt"/>
              <a:buAutoNum type="arabicPeriod"/>
            </a:pPr>
            <a:r>
              <a:rPr lang="en-US" b="1" dirty="0" err="1"/>
              <a:t>ParkHere</a:t>
            </a:r>
            <a:r>
              <a:rPr lang="en-US" b="1" dirty="0"/>
              <a:t> provides a peer-to-peer solution connecting parking owners with drivers seeking parking.</a:t>
            </a:r>
          </a:p>
          <a:p>
            <a:pPr marL="342900" indent="-342900">
              <a:buFont typeface="+mj-lt"/>
              <a:buAutoNum type="arabicPeriod"/>
            </a:pPr>
            <a:endParaRPr lang="en-US" b="1" dirty="0"/>
          </a:p>
          <a:p>
            <a:pPr marL="342900" indent="-342900">
              <a:buFont typeface="+mj-lt"/>
              <a:buAutoNum type="arabicPeriod"/>
            </a:pPr>
            <a:r>
              <a:rPr lang="en-US" b="1" dirty="0"/>
              <a:t>The app promotes space optimization, convenience, and smart urban mobility.</a:t>
            </a:r>
          </a:p>
          <a:p>
            <a:r>
              <a:rPr lang="en-IN" dirty="0"/>
              <a:t> </a:t>
            </a:r>
          </a:p>
        </p:txBody>
      </p:sp>
      <p:sp>
        <p:nvSpPr>
          <p:cNvPr id="10" name="TextBox 9">
            <a:extLst>
              <a:ext uri="{FF2B5EF4-FFF2-40B4-BE49-F238E27FC236}">
                <a16:creationId xmlns:a16="http://schemas.microsoft.com/office/drawing/2014/main" id="{28642740-70CE-91E4-7EE9-A69151AB079F}"/>
              </a:ext>
            </a:extLst>
          </p:cNvPr>
          <p:cNvSpPr txBox="1"/>
          <p:nvPr/>
        </p:nvSpPr>
        <p:spPr>
          <a:xfrm>
            <a:off x="4378099" y="697077"/>
            <a:ext cx="6094638" cy="646331"/>
          </a:xfrm>
          <a:prstGeom prst="rect">
            <a:avLst/>
          </a:prstGeom>
          <a:noFill/>
        </p:spPr>
        <p:txBody>
          <a:bodyPr wrap="square">
            <a:spAutoFit/>
          </a:bodyPr>
          <a:lstStyle/>
          <a:p>
            <a:r>
              <a:rPr lang="en-IN" sz="3600" dirty="0">
                <a:latin typeface="+mj-lt"/>
              </a:rPr>
              <a:t>Introduction</a:t>
            </a:r>
          </a:p>
        </p:txBody>
      </p:sp>
    </p:spTree>
    <p:extLst>
      <p:ext uri="{BB962C8B-B14F-4D97-AF65-F5344CB8AC3E}">
        <p14:creationId xmlns:p14="http://schemas.microsoft.com/office/powerpoint/2010/main" val="2917678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C73CB-1B6F-DF03-1960-971AD225D85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0C6074E-296E-C1B9-F565-11C0DEAA7AC3}"/>
              </a:ext>
            </a:extLst>
          </p:cNvPr>
          <p:cNvSpPr txBox="1"/>
          <p:nvPr/>
        </p:nvSpPr>
        <p:spPr>
          <a:xfrm>
            <a:off x="612320" y="1844721"/>
            <a:ext cx="10009414" cy="2308324"/>
          </a:xfrm>
          <a:prstGeom prst="rect">
            <a:avLst/>
          </a:prstGeom>
          <a:noFill/>
        </p:spPr>
        <p:txBody>
          <a:bodyPr wrap="square" rtlCol="0">
            <a:spAutoFit/>
          </a:bodyPr>
          <a:lstStyle/>
          <a:p>
            <a:pPr marL="342900" indent="-342900">
              <a:buFont typeface="+mj-lt"/>
              <a:buAutoNum type="arabicPeriod"/>
            </a:pPr>
            <a:r>
              <a:rPr lang="en-IN" b="1" dirty="0"/>
              <a:t>D</a:t>
            </a:r>
            <a:r>
              <a:rPr lang="en-US" b="1" dirty="0" err="1"/>
              <a:t>ifficulty</a:t>
            </a:r>
            <a:r>
              <a:rPr lang="en-US" b="1" dirty="0"/>
              <a:t> finding available parking spots in crowded cities.</a:t>
            </a:r>
            <a:endParaRPr lang="en-IN" b="1" dirty="0"/>
          </a:p>
          <a:p>
            <a:pPr marL="342900" indent="-342900">
              <a:buFont typeface="+mj-lt"/>
              <a:buAutoNum type="arabicPeriod"/>
            </a:pPr>
            <a:endParaRPr lang="en-IN" b="1" dirty="0"/>
          </a:p>
          <a:p>
            <a:pPr marL="342900" indent="-342900">
              <a:buFont typeface="+mj-lt"/>
              <a:buAutoNum type="arabicPeriod"/>
            </a:pPr>
            <a:r>
              <a:rPr lang="en-US" b="1" dirty="0"/>
              <a:t>Wasted time and fuel while searching.</a:t>
            </a:r>
          </a:p>
          <a:p>
            <a:pPr marL="342900" indent="-342900">
              <a:buFont typeface="+mj-lt"/>
              <a:buAutoNum type="arabicPeriod"/>
            </a:pPr>
            <a:endParaRPr lang="en-US" b="1" dirty="0"/>
          </a:p>
          <a:p>
            <a:pPr marL="342900" indent="-342900">
              <a:buFont typeface="+mj-lt"/>
              <a:buAutoNum type="arabicPeriod"/>
            </a:pPr>
            <a:r>
              <a:rPr lang="en-US" b="1" dirty="0"/>
              <a:t>Lack of real-time availability updates.</a:t>
            </a:r>
          </a:p>
          <a:p>
            <a:pPr marL="342900" indent="-342900">
              <a:buFont typeface="+mj-lt"/>
              <a:buAutoNum type="arabicPeriod"/>
            </a:pPr>
            <a:endParaRPr lang="en-US" b="1" dirty="0"/>
          </a:p>
          <a:p>
            <a:pPr marL="342900" indent="-342900">
              <a:buFont typeface="+mj-lt"/>
              <a:buAutoNum type="arabicPeriod"/>
            </a:pPr>
            <a:r>
              <a:rPr lang="en-US" b="1" dirty="0"/>
              <a:t>No unified platform for private users to list or rent parking spaces.</a:t>
            </a:r>
          </a:p>
          <a:p>
            <a:r>
              <a:rPr lang="en-IN" dirty="0"/>
              <a:t> </a:t>
            </a:r>
          </a:p>
        </p:txBody>
      </p:sp>
      <p:sp>
        <p:nvSpPr>
          <p:cNvPr id="10" name="TextBox 9">
            <a:extLst>
              <a:ext uri="{FF2B5EF4-FFF2-40B4-BE49-F238E27FC236}">
                <a16:creationId xmlns:a16="http://schemas.microsoft.com/office/drawing/2014/main" id="{0ED9962B-1AD5-7806-7884-E4B56A7CC3C5}"/>
              </a:ext>
            </a:extLst>
          </p:cNvPr>
          <p:cNvSpPr txBox="1"/>
          <p:nvPr/>
        </p:nvSpPr>
        <p:spPr>
          <a:xfrm>
            <a:off x="4182156" y="697077"/>
            <a:ext cx="6094638" cy="646331"/>
          </a:xfrm>
          <a:prstGeom prst="rect">
            <a:avLst/>
          </a:prstGeom>
          <a:noFill/>
        </p:spPr>
        <p:txBody>
          <a:bodyPr wrap="square">
            <a:spAutoFit/>
          </a:bodyPr>
          <a:lstStyle/>
          <a:p>
            <a:r>
              <a:rPr lang="en-IN" sz="3600" dirty="0"/>
              <a:t>Problem Statement</a:t>
            </a:r>
            <a:endParaRPr lang="en-IN" sz="3600" dirty="0">
              <a:latin typeface="+mj-lt"/>
            </a:endParaRPr>
          </a:p>
        </p:txBody>
      </p:sp>
    </p:spTree>
    <p:extLst>
      <p:ext uri="{BB962C8B-B14F-4D97-AF65-F5344CB8AC3E}">
        <p14:creationId xmlns:p14="http://schemas.microsoft.com/office/powerpoint/2010/main" val="3115937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D0F23-5324-57FF-237C-0CD84999EEB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6676304-2304-2CEF-275A-951D2996CA33}"/>
              </a:ext>
            </a:extLst>
          </p:cNvPr>
          <p:cNvSpPr txBox="1"/>
          <p:nvPr/>
        </p:nvSpPr>
        <p:spPr>
          <a:xfrm>
            <a:off x="530678" y="1844721"/>
            <a:ext cx="10009414" cy="2031325"/>
          </a:xfrm>
          <a:prstGeom prst="rect">
            <a:avLst/>
          </a:prstGeom>
          <a:noFill/>
        </p:spPr>
        <p:txBody>
          <a:bodyPr wrap="square" rtlCol="0">
            <a:spAutoFit/>
          </a:bodyPr>
          <a:lstStyle/>
          <a:p>
            <a:pPr marL="342900" indent="-342900">
              <a:buFont typeface="+mj-lt"/>
              <a:buAutoNum type="arabicPeriod"/>
            </a:pPr>
            <a:r>
              <a:rPr lang="en-US" b="1" dirty="0"/>
              <a:t>Manual or app-based public parking systems.</a:t>
            </a:r>
            <a:endParaRPr lang="en-IN" b="1" dirty="0"/>
          </a:p>
          <a:p>
            <a:pPr marL="342900" indent="-342900">
              <a:buFont typeface="+mj-lt"/>
              <a:buAutoNum type="arabicPeriod"/>
            </a:pPr>
            <a:endParaRPr lang="en-IN" b="1" dirty="0"/>
          </a:p>
          <a:p>
            <a:pPr marL="342900" indent="-342900">
              <a:buFont typeface="+mj-lt"/>
              <a:buAutoNum type="arabicPeriod"/>
            </a:pPr>
            <a:r>
              <a:rPr lang="en-US" b="1" dirty="0"/>
              <a:t>Limited visibility of private parking spots.</a:t>
            </a:r>
          </a:p>
          <a:p>
            <a:pPr marL="342900" indent="-342900">
              <a:buFont typeface="+mj-lt"/>
              <a:buAutoNum type="arabicPeriod"/>
            </a:pPr>
            <a:endParaRPr lang="en-US" b="1" dirty="0"/>
          </a:p>
          <a:p>
            <a:pPr marL="342900" indent="-342900">
              <a:buFont typeface="+mj-lt"/>
              <a:buAutoNum type="arabicPeriod"/>
            </a:pPr>
            <a:r>
              <a:rPr lang="en-US" b="1" dirty="0"/>
              <a:t>No peer-to-peer sharing or live occupancy tracking.</a:t>
            </a:r>
          </a:p>
          <a:p>
            <a:pPr marL="342900" indent="-342900">
              <a:buFont typeface="+mj-lt"/>
              <a:buAutoNum type="arabicPeriod"/>
            </a:pPr>
            <a:endParaRPr lang="en-US" b="1" dirty="0"/>
          </a:p>
          <a:p>
            <a:pPr marL="342900" indent="-342900">
              <a:buFont typeface="+mj-lt"/>
              <a:buAutoNum type="arabicPeriod"/>
            </a:pPr>
            <a:r>
              <a:rPr lang="en-US" b="1" dirty="0"/>
              <a:t>Users face uncertainty about availability and pricing.</a:t>
            </a:r>
            <a:r>
              <a:rPr lang="en-IN" b="1" dirty="0"/>
              <a:t> </a:t>
            </a:r>
          </a:p>
        </p:txBody>
      </p:sp>
      <p:sp>
        <p:nvSpPr>
          <p:cNvPr id="10" name="TextBox 9">
            <a:extLst>
              <a:ext uri="{FF2B5EF4-FFF2-40B4-BE49-F238E27FC236}">
                <a16:creationId xmlns:a16="http://schemas.microsoft.com/office/drawing/2014/main" id="{158ECA18-8F50-FDB9-E21F-192D718C71B0}"/>
              </a:ext>
            </a:extLst>
          </p:cNvPr>
          <p:cNvSpPr txBox="1"/>
          <p:nvPr/>
        </p:nvSpPr>
        <p:spPr>
          <a:xfrm>
            <a:off x="4378099" y="697077"/>
            <a:ext cx="6094638" cy="646331"/>
          </a:xfrm>
          <a:prstGeom prst="rect">
            <a:avLst/>
          </a:prstGeom>
          <a:noFill/>
        </p:spPr>
        <p:txBody>
          <a:bodyPr wrap="square">
            <a:spAutoFit/>
          </a:bodyPr>
          <a:lstStyle/>
          <a:p>
            <a:r>
              <a:rPr lang="en-IN" sz="3600" dirty="0"/>
              <a:t>Existing System</a:t>
            </a:r>
            <a:endParaRPr lang="en-IN" sz="3600" dirty="0">
              <a:latin typeface="+mj-lt"/>
            </a:endParaRPr>
          </a:p>
        </p:txBody>
      </p:sp>
    </p:spTree>
    <p:extLst>
      <p:ext uri="{BB962C8B-B14F-4D97-AF65-F5344CB8AC3E}">
        <p14:creationId xmlns:p14="http://schemas.microsoft.com/office/powerpoint/2010/main" val="3122883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9ACB-25A3-6274-C5AC-4714EA18B4C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22DA5F3-3907-0B6B-6E85-8C5C1BCB8647}"/>
              </a:ext>
            </a:extLst>
          </p:cNvPr>
          <p:cNvSpPr txBox="1"/>
          <p:nvPr/>
        </p:nvSpPr>
        <p:spPr>
          <a:xfrm>
            <a:off x="530678" y="1844721"/>
            <a:ext cx="10009414" cy="2031325"/>
          </a:xfrm>
          <a:prstGeom prst="rect">
            <a:avLst/>
          </a:prstGeom>
          <a:noFill/>
        </p:spPr>
        <p:txBody>
          <a:bodyPr wrap="square" rtlCol="0">
            <a:spAutoFit/>
          </a:bodyPr>
          <a:lstStyle/>
          <a:p>
            <a:pPr marL="342900" indent="-342900">
              <a:buFont typeface="+mj-lt"/>
              <a:buAutoNum type="arabicPeriod"/>
            </a:pPr>
            <a:r>
              <a:rPr lang="en-US" b="1" dirty="0"/>
              <a:t>Live background map showing nearby available spaces.</a:t>
            </a:r>
          </a:p>
          <a:p>
            <a:pPr marL="342900" indent="-342900">
              <a:buFont typeface="+mj-lt"/>
              <a:buAutoNum type="arabicPeriod"/>
            </a:pPr>
            <a:endParaRPr lang="en-IN" b="1" dirty="0"/>
          </a:p>
          <a:p>
            <a:pPr marL="342900" indent="-342900">
              <a:buFont typeface="+mj-lt"/>
              <a:buAutoNum type="arabicPeriod"/>
            </a:pPr>
            <a:r>
              <a:rPr lang="en-US" b="1" dirty="0"/>
              <a:t>Users can post parking availability instantly.</a:t>
            </a:r>
          </a:p>
          <a:p>
            <a:pPr marL="342900" indent="-342900">
              <a:buFont typeface="+mj-lt"/>
              <a:buAutoNum type="arabicPeriod"/>
            </a:pPr>
            <a:endParaRPr lang="en-US" b="1" dirty="0"/>
          </a:p>
          <a:p>
            <a:pPr marL="342900" indent="-342900">
              <a:buFont typeface="+mj-lt"/>
              <a:buAutoNum type="arabicPeriod"/>
            </a:pPr>
            <a:r>
              <a:rPr lang="en-US" b="1" dirty="0"/>
              <a:t>Occupied spaces are shown with time duration</a:t>
            </a:r>
          </a:p>
          <a:p>
            <a:pPr marL="342900" indent="-342900">
              <a:buFont typeface="+mj-lt"/>
              <a:buAutoNum type="arabicPeriod"/>
            </a:pPr>
            <a:endParaRPr lang="en-US" b="1" dirty="0"/>
          </a:p>
          <a:p>
            <a:pPr marL="342900" indent="-342900">
              <a:buFont typeface="+mj-lt"/>
              <a:buAutoNum type="arabicPeriod"/>
            </a:pPr>
            <a:r>
              <a:rPr lang="en-US" b="1" dirty="0"/>
              <a:t>Planned integration of payment and verification systems.</a:t>
            </a:r>
            <a:r>
              <a:rPr lang="en-IN" b="1" dirty="0"/>
              <a:t> </a:t>
            </a:r>
          </a:p>
        </p:txBody>
      </p:sp>
      <p:sp>
        <p:nvSpPr>
          <p:cNvPr id="10" name="TextBox 9">
            <a:extLst>
              <a:ext uri="{FF2B5EF4-FFF2-40B4-BE49-F238E27FC236}">
                <a16:creationId xmlns:a16="http://schemas.microsoft.com/office/drawing/2014/main" id="{5079F134-FB20-AB4A-CCAE-3CABB9ACE2E9}"/>
              </a:ext>
            </a:extLst>
          </p:cNvPr>
          <p:cNvSpPr txBox="1"/>
          <p:nvPr/>
        </p:nvSpPr>
        <p:spPr>
          <a:xfrm>
            <a:off x="4378099" y="697077"/>
            <a:ext cx="6094638" cy="646331"/>
          </a:xfrm>
          <a:prstGeom prst="rect">
            <a:avLst/>
          </a:prstGeom>
          <a:noFill/>
        </p:spPr>
        <p:txBody>
          <a:bodyPr wrap="square">
            <a:spAutoFit/>
          </a:bodyPr>
          <a:lstStyle/>
          <a:p>
            <a:r>
              <a:rPr lang="en-IN" sz="3600" dirty="0"/>
              <a:t>Proposed System</a:t>
            </a:r>
            <a:endParaRPr lang="en-IN" sz="3600" dirty="0">
              <a:latin typeface="+mj-lt"/>
            </a:endParaRPr>
          </a:p>
        </p:txBody>
      </p:sp>
    </p:spTree>
    <p:extLst>
      <p:ext uri="{BB962C8B-B14F-4D97-AF65-F5344CB8AC3E}">
        <p14:creationId xmlns:p14="http://schemas.microsoft.com/office/powerpoint/2010/main" val="1809680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70820-6D7D-EE72-B021-17076E6163D2}"/>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AB20E42-EFF2-B6C2-C1DB-60037338C192}"/>
              </a:ext>
            </a:extLst>
          </p:cNvPr>
          <p:cNvSpPr txBox="1"/>
          <p:nvPr/>
        </p:nvSpPr>
        <p:spPr>
          <a:xfrm>
            <a:off x="4378099" y="697077"/>
            <a:ext cx="6094638" cy="646331"/>
          </a:xfrm>
          <a:prstGeom prst="rect">
            <a:avLst/>
          </a:prstGeom>
          <a:noFill/>
        </p:spPr>
        <p:txBody>
          <a:bodyPr wrap="square">
            <a:spAutoFit/>
          </a:bodyPr>
          <a:lstStyle/>
          <a:p>
            <a:r>
              <a:rPr lang="en-IN" sz="3600" dirty="0"/>
              <a:t>Conclusion </a:t>
            </a:r>
            <a:endParaRPr lang="en-IN" sz="3600" dirty="0">
              <a:latin typeface="+mj-lt"/>
            </a:endParaRPr>
          </a:p>
        </p:txBody>
      </p:sp>
      <p:sp>
        <p:nvSpPr>
          <p:cNvPr id="2" name="Rectangle 1">
            <a:extLst>
              <a:ext uri="{FF2B5EF4-FFF2-40B4-BE49-F238E27FC236}">
                <a16:creationId xmlns:a16="http://schemas.microsoft.com/office/drawing/2014/main" id="{0D0973C1-C3E5-ABF8-F3E7-1E78E6611D6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ParkHere successfully demonstrates a </a:t>
            </a:r>
            <a:r>
              <a:rPr kumimoji="0" lang="en-US" altLang="en-US" sz="1800" b="1" i="0" u="none" strike="noStrike" cap="none" normalizeH="0" baseline="0">
                <a:ln>
                  <a:noFill/>
                </a:ln>
                <a:solidFill>
                  <a:schemeClr val="tx1"/>
                </a:solidFill>
                <a:effectLst/>
                <a:latin typeface="Arial" panose="020B0604020202020204" pitchFamily="34" charset="0"/>
              </a:rPr>
              <a:t>smart and scalable approach</a:t>
            </a:r>
            <a:r>
              <a:rPr kumimoji="0" lang="en-US" altLang="en-US" sz="1800" b="0" i="0" u="none" strike="noStrike" cap="none" normalizeH="0" baseline="0">
                <a:ln>
                  <a:noFill/>
                </a:ln>
                <a:solidFill>
                  <a:schemeClr val="tx1"/>
                </a:solidFill>
                <a:effectLst/>
                <a:latin typeface="Arial" panose="020B0604020202020204" pitchFamily="34" charset="0"/>
              </a:rPr>
              <a:t> for urban parking management using a peer-to-peer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D1C0D1FA-719A-E79E-BBD4-CD2B4F65EC6F}"/>
              </a:ext>
            </a:extLst>
          </p:cNvPr>
          <p:cNvSpPr>
            <a:spLocks noChangeArrowheads="1"/>
          </p:cNvSpPr>
          <p:nvPr/>
        </p:nvSpPr>
        <p:spPr bwMode="auto">
          <a:xfrm rot="10800000" flipV="1">
            <a:off x="1055716" y="1400707"/>
            <a:ext cx="999189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err="1">
                <a:ln>
                  <a:noFill/>
                </a:ln>
                <a:solidFill>
                  <a:schemeClr val="tx1"/>
                </a:solidFill>
                <a:effectLst/>
                <a:latin typeface="Arial" panose="020B0604020202020204" pitchFamily="34" charset="0"/>
              </a:rPr>
              <a:t>ParkHere</a:t>
            </a:r>
            <a:r>
              <a:rPr kumimoji="0" lang="en-US" altLang="en-US" sz="1800" i="0" u="none" strike="noStrike" cap="none" normalizeH="0" baseline="0" dirty="0">
                <a:ln>
                  <a:noFill/>
                </a:ln>
                <a:solidFill>
                  <a:schemeClr val="tx1"/>
                </a:solidFill>
                <a:effectLst/>
                <a:latin typeface="Arial" panose="020B0604020202020204" pitchFamily="34" charset="0"/>
              </a:rPr>
              <a:t> successfully demonstrates a smart and scalable approach for urban parking management using a peer-to-peer model.</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r>
              <a:rPr lang="en-US" b="1" dirty="0"/>
              <a:t>Future Enhancements:</a:t>
            </a:r>
            <a:endParaRPr lang="en-US" dirty="0"/>
          </a:p>
          <a:p>
            <a:r>
              <a:rPr lang="en-US" dirty="0"/>
              <a:t>	Add online payment and wallet systems.</a:t>
            </a:r>
          </a:p>
          <a:p>
            <a:r>
              <a:rPr lang="en-US" dirty="0"/>
              <a:t>	Integrate user verification (KYC).</a:t>
            </a:r>
          </a:p>
          <a:p>
            <a:r>
              <a:rPr lang="en-US" dirty="0"/>
              <a:t>	Implement parking history and analytics dashboard.</a:t>
            </a:r>
          </a:p>
          <a:p>
            <a:r>
              <a:rPr lang="en-US" dirty="0"/>
              <a:t>	Develop an AI-based availability predictor.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1188272"/>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{0DE9DB52-1315-4E1A-A5D4-1CFE39E60B71}tf56160789_win32</Template>
  <TotalTime>50</TotalTime>
  <Words>372</Words>
  <Application>Microsoft Office PowerPoint</Application>
  <PresentationFormat>Widescreen</PresentationFormat>
  <Paragraphs>57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Bookman Old Style</vt:lpstr>
      <vt:lpstr>Calibri</vt:lpstr>
      <vt:lpstr>Franklin Gothic Book</vt:lpstr>
      <vt:lpstr>Times New Roman</vt:lpstr>
      <vt:lpstr>Custom</vt:lpstr>
      <vt:lpstr>PARK HERE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RAAJESH NATARAJAN (DC2432306010003)</dc:creator>
  <cp:lastModifiedBy>RAAJESH NATARAJAN (DC2432306010003)</cp:lastModifiedBy>
  <cp:revision>1</cp:revision>
  <dcterms:created xsi:type="dcterms:W3CDTF">2025-11-08T09:27:24Z</dcterms:created>
  <dcterms:modified xsi:type="dcterms:W3CDTF">2025-11-08T10:17:50Z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